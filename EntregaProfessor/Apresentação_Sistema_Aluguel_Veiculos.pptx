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9" r:id="rId9"/>
    <p:sldId id="270" r:id="rId10"/>
    <p:sldId id="271" r:id="rId11"/>
    <p:sldId id="261" r:id="rId12"/>
    <p:sldId id="272" r:id="rId13"/>
    <p:sldId id="273" r:id="rId14"/>
    <p:sldId id="262" r:id="rId15"/>
    <p:sldId id="264" r:id="rId16"/>
    <p:sldId id="265" r:id="rId17"/>
    <p:sldId id="267" r:id="rId18"/>
    <p:sldId id="268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SISTEMA 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ALUGUEL DE VEÍCULOS</a:t>
            </a:r>
            <a:endParaRPr lang="en-US" sz="3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DBEAF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 SE + Swing + MySQL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F4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Equipe 2: </a:t>
            </a: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Gabriel</a:t>
            </a:r>
            <a:r>
              <a:rPr lang="pt-BR" alt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Duran</a:t>
            </a: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&amp; Lui</a:t>
            </a:r>
            <a:r>
              <a:rPr lang="pt-BR" alt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 Henrique</a:t>
            </a:r>
            <a:endParaRPr lang="pt-BR" altLang="en-US" sz="16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F4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Projeto Integrador </a:t>
            </a:r>
            <a:r>
              <a:rPr lang="pt-BR" altLang="en-US" sz="1400" dirty="0">
                <a:solidFill>
                  <a:srgbClr val="F3F4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-</a:t>
            </a:r>
            <a:r>
              <a:rPr lang="en-US" sz="1400" dirty="0">
                <a:solidFill>
                  <a:srgbClr val="F3F4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2026</a:t>
            </a:r>
            <a:r>
              <a:rPr lang="pt-BR" altLang="en-US" sz="1400" dirty="0">
                <a:solidFill>
                  <a:srgbClr val="F3F4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.1</a:t>
            </a:r>
            <a:endParaRPr lang="pt-BR" altLang="en-US" sz="1400" dirty="0">
              <a:solidFill>
                <a:srgbClr val="F3F4F6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INTRODUÇÃO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172339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5661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Locadoras de veículos precisam de sistemas ágeis para: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200" dirty="0"/>
          </a:p>
          <a:p>
            <a:pPr indent="0">
              <a:buSzPct val="100000"/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</a:t>
            </a:r>
            <a:r>
              <a:rPr lang="pt-BR" alt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Controlar disponibilidade da frota</a:t>
            </a:r>
            <a:endParaRPr lang="en-US" sz="1200" dirty="0"/>
          </a:p>
          <a:p>
            <a:pPr indent="0">
              <a:buSzPct val="100000"/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Gerenciar clientes e contratos</a:t>
            </a:r>
            <a:endParaRPr lang="en-US" sz="1200" dirty="0"/>
          </a:p>
          <a:p>
            <a:pPr indent="0">
              <a:buSzPct val="100000"/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Acompanhar receitas</a:t>
            </a:r>
            <a:endParaRPr lang="en-US" sz="1200" dirty="0"/>
          </a:p>
          <a:p>
            <a:pPr indent="0">
              <a:buSzPct val="100000"/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</a:t>
            </a:r>
            <a:r>
              <a:rPr lang="pt-BR" alt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Identificar atrasos nas devoluções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/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818505" y="1371600"/>
            <a:ext cx="172847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pt-BR" altLang="en-US" sz="2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</a:t>
            </a:r>
            <a:r>
              <a:rPr lang="en-US" sz="20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SOLUÇÃO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5661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Sistema desktop informatizado que: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✓ Elimina erros manuais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✓ Reduz tempo de atendimento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✓ Fornece informações em tempo real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✓ Apoia a gestão da empresa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m 11" descr="soluca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535" y="1329055"/>
            <a:ext cx="559435" cy="559435"/>
          </a:xfrm>
          <a:prstGeom prst="rect">
            <a:avLst/>
          </a:prstGeom>
        </p:spPr>
      </p:pic>
      <p:pic>
        <p:nvPicPr>
          <p:cNvPr id="13" name="Imagem 12" descr="proble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68095"/>
            <a:ext cx="652145" cy="652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OBJETIVOS DO SISTEMA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/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Gestão de Clientes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3108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Cadastrar e gerenciar base completa de clientes locatários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41148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3258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/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760720" y="13716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Controle de Frota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1783080"/>
            <a:ext cx="3108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Registrar veículos com status em tempo real (Disponível/Alugado)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/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Contratos de Aluguel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3108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Registrar aluguéis com controle de disponibilidade automático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41148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971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/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760720" y="301752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Relatórios Gerenciais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429000"/>
            <a:ext cx="3108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Faturamento por período e veículos com entrega atrasada</a:t>
            </a:r>
            <a:endParaRPr lang="en-US" sz="1200" dirty="0"/>
          </a:p>
        </p:txBody>
      </p:sp>
      <p:pic>
        <p:nvPicPr>
          <p:cNvPr id="20" name="Imagem 19" descr="cr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24305"/>
            <a:ext cx="626110" cy="746125"/>
          </a:xfrm>
          <a:prstGeom prst="rect">
            <a:avLst/>
          </a:prstGeom>
        </p:spPr>
      </p:pic>
      <p:pic>
        <p:nvPicPr>
          <p:cNvPr id="21" name="Imagem 20" descr="veicul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550" y="1273175"/>
            <a:ext cx="871220" cy="1019810"/>
          </a:xfrm>
          <a:prstGeom prst="rect">
            <a:avLst/>
          </a:prstGeom>
        </p:spPr>
      </p:pic>
      <p:pic>
        <p:nvPicPr>
          <p:cNvPr id="22" name="Imagem 21" descr="contrato-de-alugu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" y="3017520"/>
            <a:ext cx="687070" cy="840105"/>
          </a:xfrm>
          <a:prstGeom prst="rect">
            <a:avLst/>
          </a:prstGeom>
        </p:spPr>
      </p:pic>
      <p:pic>
        <p:nvPicPr>
          <p:cNvPr id="23" name="Imagem 22" descr="relator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088640"/>
            <a:ext cx="685165" cy="835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TECNOLOGIAS UTILIZADAS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" cy="594360"/>
          </a:xfrm>
          <a:prstGeom prst="rect">
            <a:avLst/>
          </a:prstGeom>
          <a:solidFill>
            <a:srgbClr val="B07219"/>
          </a:solidFill>
        </p:spPr>
      </p:sp>
      <p:sp>
        <p:nvSpPr>
          <p:cNvPr id="6" name="Text 4"/>
          <p:cNvSpPr/>
          <p:nvPr/>
        </p:nvSpPr>
        <p:spPr>
          <a:xfrm>
            <a:off x="777240" y="126187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 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261872"/>
            <a:ext cx="5760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Linguagem de programação orientada a objetos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9" name="Shape 7"/>
          <p:cNvSpPr/>
          <p:nvPr/>
        </p:nvSpPr>
        <p:spPr>
          <a:xfrm>
            <a:off x="457200" y="1874520"/>
            <a:ext cx="137160" cy="594360"/>
          </a:xfrm>
          <a:prstGeom prst="rect">
            <a:avLst/>
          </a:prstGeom>
          <a:solidFill>
            <a:srgbClr val="5382A1"/>
          </a:solidFill>
        </p:spPr>
      </p:sp>
      <p:sp>
        <p:nvSpPr>
          <p:cNvPr id="10" name="Text 8"/>
          <p:cNvSpPr/>
          <p:nvPr/>
        </p:nvSpPr>
        <p:spPr>
          <a:xfrm>
            <a:off x="777240" y="194767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Swing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1947672"/>
            <a:ext cx="5760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Biblioteca para interface gráfica desktop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3" name="Shape 11"/>
          <p:cNvSpPr/>
          <p:nvPr/>
        </p:nvSpPr>
        <p:spPr>
          <a:xfrm>
            <a:off x="457200" y="2560320"/>
            <a:ext cx="137160" cy="594360"/>
          </a:xfrm>
          <a:prstGeom prst="rect">
            <a:avLst/>
          </a:prstGeom>
          <a:solidFill>
            <a:srgbClr val="00758F"/>
          </a:solidFill>
        </p:spPr>
      </p:sp>
      <p:sp>
        <p:nvSpPr>
          <p:cNvPr id="14" name="Text 12"/>
          <p:cNvSpPr/>
          <p:nvPr/>
        </p:nvSpPr>
        <p:spPr>
          <a:xfrm>
            <a:off x="777240" y="263347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0" y="2633472"/>
            <a:ext cx="5760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Sistema de gerenciamento de banco de dados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7" name="Shape 15"/>
          <p:cNvSpPr/>
          <p:nvPr/>
        </p:nvSpPr>
        <p:spPr>
          <a:xfrm>
            <a:off x="457200" y="3246120"/>
            <a:ext cx="137160" cy="594360"/>
          </a:xfrm>
          <a:prstGeom prst="rect">
            <a:avLst/>
          </a:prstGeom>
          <a:solidFill>
            <a:srgbClr val="1B6AC6"/>
          </a:solidFill>
        </p:spPr>
      </p:sp>
      <p:sp>
        <p:nvSpPr>
          <p:cNvPr id="18" name="Text 16"/>
          <p:cNvSpPr/>
          <p:nvPr/>
        </p:nvSpPr>
        <p:spPr>
          <a:xfrm>
            <a:off x="777240" y="331927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NetBeans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3319272"/>
            <a:ext cx="5760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 para desenvolvimento e debug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21" name="Shape 19"/>
          <p:cNvSpPr/>
          <p:nvPr/>
        </p:nvSpPr>
        <p:spPr>
          <a:xfrm>
            <a:off x="457200" y="3931920"/>
            <a:ext cx="137160" cy="594360"/>
          </a:xfrm>
          <a:prstGeom prst="rect">
            <a:avLst/>
          </a:prstGeom>
          <a:solidFill>
            <a:srgbClr val="007396"/>
          </a:solidFill>
        </p:spPr>
      </p:sp>
      <p:sp>
        <p:nvSpPr>
          <p:cNvPr id="22" name="Text 20"/>
          <p:cNvSpPr/>
          <p:nvPr/>
        </p:nvSpPr>
        <p:spPr>
          <a:xfrm>
            <a:off x="777240" y="4005072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JDBC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43200" y="4005072"/>
            <a:ext cx="5760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para conexão Java com banco de dados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ARQUITETURA DO SISTEMA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71475"/>
          </a:xfrm>
          <a:prstGeom prst="rect">
            <a:avLst/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CAMADA DE APRESENTAÇÃO (VIEW)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17295"/>
            <a:ext cx="8229600" cy="4286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MDI (Multiple Document Interface)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Telas Swing: Login, Principal, Clientes, Veículos, Aluguéis, Relatórios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1682115"/>
            <a:ext cx="548640" cy="264160"/>
          </a:xfrm>
          <a:prstGeom prst="downArrow">
            <a:avLst/>
          </a:prstGeom>
          <a:solidFill>
            <a:srgbClr val="60A5FA"/>
          </a:solidFill>
        </p:spPr>
      </p:sp>
      <p:sp>
        <p:nvSpPr>
          <p:cNvPr id="7" name="Text 5"/>
          <p:cNvSpPr/>
          <p:nvPr/>
        </p:nvSpPr>
        <p:spPr>
          <a:xfrm>
            <a:off x="457200" y="1994535"/>
            <a:ext cx="8229600" cy="401955"/>
          </a:xfrm>
          <a:prstGeom prst="rect">
            <a:avLst/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CAMADA DE LÓGICA (DAO)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14270"/>
            <a:ext cx="822960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Access Object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UsuarioDAO, ClienteDAO, VeiculoDAO, AluguelDAO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835275"/>
            <a:ext cx="548640" cy="254635"/>
          </a:xfrm>
          <a:prstGeom prst="downArrow">
            <a:avLst/>
          </a:prstGeom>
          <a:solidFill>
            <a:srgbClr val="60A5FA"/>
          </a:solidFill>
        </p:spPr>
      </p:sp>
      <p:sp>
        <p:nvSpPr>
          <p:cNvPr id="10" name="Text 8"/>
          <p:cNvSpPr/>
          <p:nvPr/>
        </p:nvSpPr>
        <p:spPr>
          <a:xfrm>
            <a:off x="457200" y="3133090"/>
            <a:ext cx="8229600" cy="379095"/>
          </a:xfrm>
          <a:prstGeom prst="rect">
            <a:avLst/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CAMADA DE MODELO (MODEL)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94405"/>
            <a:ext cx="8229600" cy="4038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Classes de Domínio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Usuario, Cliente, Veiculo, Aluguel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933825"/>
            <a:ext cx="548640" cy="325120"/>
          </a:xfrm>
          <a:prstGeom prst="downArrow">
            <a:avLst/>
          </a:prstGeom>
          <a:solidFill>
            <a:srgbClr val="60A5FA"/>
          </a:solidFill>
        </p:spPr>
      </p:sp>
      <p:sp>
        <p:nvSpPr>
          <p:cNvPr id="13" name="Text 11"/>
          <p:cNvSpPr/>
          <p:nvPr/>
        </p:nvSpPr>
        <p:spPr>
          <a:xfrm>
            <a:off x="457200" y="5412105"/>
            <a:ext cx="8229600" cy="376555"/>
          </a:xfrm>
          <a:prstGeom prst="rect">
            <a:avLst/>
          </a:prstGeom>
          <a:solidFill>
            <a:srgbClr val="1F2937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BANCO DE DADOS (MySQL)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798185"/>
            <a:ext cx="8229600" cy="4387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Persistência de Dados</a:t>
            </a:r>
            <a:endParaRPr lang="en-US" sz="1100" dirty="0"/>
          </a:p>
        </p:txBody>
      </p:sp>
      <p:sp>
        <p:nvSpPr>
          <p:cNvPr id="15" name="Text 2"/>
          <p:cNvSpPr/>
          <p:nvPr/>
        </p:nvSpPr>
        <p:spPr>
          <a:xfrm>
            <a:off x="457200" y="4302760"/>
            <a:ext cx="8229600" cy="381635"/>
          </a:xfrm>
          <a:prstGeom prst="rect">
            <a:avLst/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CAMADA DE </a:t>
            </a:r>
            <a:r>
              <a:rPr lang="pt-BR" altLang="en-US" sz="1400" b="1" dirty="0">
                <a:solidFill>
                  <a:srgbClr val="FFFFFF"/>
                </a:solidFill>
              </a:rPr>
              <a:t>CONEXÃO </a:t>
            </a:r>
            <a:r>
              <a:rPr lang="en-US" sz="1400" b="1" dirty="0">
                <a:solidFill>
                  <a:srgbClr val="FFFFFF"/>
                </a:solidFill>
              </a:rPr>
              <a:t>(</a:t>
            </a:r>
            <a:r>
              <a:rPr lang="pt-BR" altLang="en-US" sz="1400" b="1" dirty="0">
                <a:solidFill>
                  <a:srgbClr val="FFFFFF"/>
                </a:solidFill>
              </a:rPr>
              <a:t>UTIL</a:t>
            </a:r>
            <a:r>
              <a:rPr lang="en-US" sz="1400" b="1" dirty="0">
                <a:solidFill>
                  <a:srgbClr val="FFFFFF"/>
                </a:solidFill>
              </a:rPr>
              <a:t>)</a:t>
            </a:r>
            <a:endParaRPr lang="en-US" sz="1400" dirty="0"/>
          </a:p>
        </p:txBody>
      </p:sp>
      <p:sp>
        <p:nvSpPr>
          <p:cNvPr id="16" name="Caixa de Texto 15"/>
          <p:cNvSpPr txBox="1"/>
          <p:nvPr/>
        </p:nvSpPr>
        <p:spPr>
          <a:xfrm>
            <a:off x="456565" y="4763135"/>
            <a:ext cx="8217535" cy="258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buNone/>
            </a:pP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Responsável por ligar o Sistema ao MySQL</a:t>
            </a:r>
            <a:endParaRPr lang="en-US" altLang="en-US" sz="1100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4297680" y="5070475"/>
            <a:ext cx="548640" cy="309245"/>
          </a:xfrm>
          <a:prstGeom prst="downArrow">
            <a:avLst/>
          </a:prstGeom>
          <a:solidFill>
            <a:srgbClr val="60A5FA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Caixa de Texto 2"/>
          <p:cNvSpPr txBox="1"/>
          <p:nvPr/>
        </p:nvSpPr>
        <p:spPr>
          <a:xfrm>
            <a:off x="238760" y="23495"/>
            <a:ext cx="8209280" cy="684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360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TELAS DE ACESSO E MENU</a:t>
            </a:r>
            <a:endParaRPr lang="pt-BR" altLang="en-US" sz="360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r>
              <a:rPr lang="pt-BR" altLang="en-US" sz="3600">
                <a:latin typeface="Arial Black" panose="020B0A04020102020204" pitchFamily="34" charset="0"/>
                <a:cs typeface="Arial Black" panose="020B0A04020102020204" pitchFamily="34" charset="0"/>
              </a:rPr>
              <a:t>                                               </a:t>
            </a:r>
            <a:endParaRPr lang="pt-BR" altLang="en-US" sz="360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266065" y="912495"/>
            <a:ext cx="1621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</a:rPr>
              <a:t>1. Tela de Login</a:t>
            </a:r>
            <a:endParaRPr lang="pt-B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Imagem 6" descr="Tela de Log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55" y="1310005"/>
            <a:ext cx="3362960" cy="2589530"/>
          </a:xfrm>
          <a:prstGeom prst="rect">
            <a:avLst/>
          </a:prstGeom>
        </p:spPr>
      </p:pic>
      <p:sp>
        <p:nvSpPr>
          <p:cNvPr id="8" name="Caixa de Texto 7"/>
          <p:cNvSpPr txBox="1"/>
          <p:nvPr/>
        </p:nvSpPr>
        <p:spPr>
          <a:xfrm>
            <a:off x="5248910" y="938530"/>
            <a:ext cx="2441575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</a:rPr>
              <a:t>2. Tela Principal</a:t>
            </a:r>
            <a:endParaRPr lang="pt-B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Imagem 8" descr="Tela Principal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245" y="1291590"/>
            <a:ext cx="3773170" cy="2653665"/>
          </a:xfrm>
          <a:prstGeom prst="rect">
            <a:avLst/>
          </a:prstGeom>
        </p:spPr>
      </p:pic>
      <p:sp>
        <p:nvSpPr>
          <p:cNvPr id="10" name="Caixa de Texto 9"/>
          <p:cNvSpPr txBox="1"/>
          <p:nvPr/>
        </p:nvSpPr>
        <p:spPr>
          <a:xfrm>
            <a:off x="311150" y="4149725"/>
            <a:ext cx="8688070" cy="447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As telas de acesso permitem que o usu</a:t>
            </a:r>
            <a:r>
              <a:rPr lang="en-US" altLang="en-US" sz="1600">
                <a:solidFill>
                  <a:schemeClr val="accent1">
                    <a:lumMod val="50000"/>
                  </a:schemeClr>
                </a:solidFill>
              </a:rPr>
              <a:t>á</a:t>
            </a:r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rio entre no sistema e navegue pela tela principal, onde ficam dispon</a:t>
            </a:r>
            <a:r>
              <a:rPr lang="en-US" altLang="en-US" sz="1600">
                <a:solidFill>
                  <a:schemeClr val="accent1">
                    <a:lumMod val="50000"/>
                  </a:schemeClr>
                </a:solidFill>
              </a:rPr>
              <a:t>í</a:t>
            </a:r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veis os m</a:t>
            </a:r>
            <a:r>
              <a:rPr lang="en-US" altLang="en-US" sz="1600">
                <a:solidFill>
                  <a:schemeClr val="accent1">
                    <a:lumMod val="50000"/>
                  </a:schemeClr>
                </a:solidFill>
              </a:rPr>
              <a:t>ó</a:t>
            </a:r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dulos de clientes, ve</a:t>
            </a:r>
            <a:r>
              <a:rPr lang="en-US" altLang="en-US" sz="1600">
                <a:solidFill>
                  <a:schemeClr val="accent1">
                    <a:lumMod val="50000"/>
                  </a:schemeClr>
                </a:solidFill>
              </a:rPr>
              <a:t>í</a:t>
            </a:r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culos, alugu</a:t>
            </a:r>
            <a:r>
              <a:rPr lang="en-US" altLang="en-US" sz="1600">
                <a:solidFill>
                  <a:schemeClr val="accent1">
                    <a:lumMod val="50000"/>
                  </a:schemeClr>
                </a:solidFill>
              </a:rPr>
              <a:t>é</a:t>
            </a:r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is e relat</a:t>
            </a:r>
            <a:r>
              <a:rPr lang="en-US" altLang="en-US" sz="1600">
                <a:solidFill>
                  <a:schemeClr val="accent1">
                    <a:lumMod val="50000"/>
                  </a:schemeClr>
                </a:solidFill>
              </a:rPr>
              <a:t>ó</a:t>
            </a:r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rios.</a:t>
            </a:r>
            <a:endParaRPr lang="en-US" altLang="pt-BR" sz="160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  <p:txBody>
          <a:bodyPr/>
          <a:p>
            <a:endParaRPr lang="pt-BR" altLang="en-US"/>
          </a:p>
        </p:txBody>
      </p:sp>
      <p:sp>
        <p:nvSpPr>
          <p:cNvPr id="3" name="Caixa de Texto 2"/>
          <p:cNvSpPr txBox="1"/>
          <p:nvPr/>
        </p:nvSpPr>
        <p:spPr>
          <a:xfrm>
            <a:off x="3810" y="56515"/>
            <a:ext cx="9107170" cy="675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3200">
                <a:latin typeface="Arial Black" panose="020B0A04020102020204" pitchFamily="34" charset="0"/>
                <a:cs typeface="Arial Black" panose="020B0A04020102020204" pitchFamily="34" charset="0"/>
              </a:rPr>
              <a:t>  </a:t>
            </a:r>
            <a:r>
              <a:rPr lang="pt-BR" altLang="en-US" sz="320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TELAS DE </a:t>
            </a:r>
            <a:r>
              <a:rPr lang="pt-BR" altLang="en-US" sz="320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CADASTROS E CONSULTAS</a:t>
            </a:r>
            <a:endParaRPr lang="pt-BR" altLang="en-US" sz="320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95580" y="951230"/>
            <a:ext cx="277622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</a:rPr>
              <a:t>1. Cadastro de Clientes</a:t>
            </a:r>
            <a:endParaRPr lang="pt-B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Imagem 4" descr="Cadastro de Client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015" y="1318260"/>
            <a:ext cx="2923540" cy="2575560"/>
          </a:xfrm>
          <a:prstGeom prst="rect">
            <a:avLst/>
          </a:prstGeom>
        </p:spPr>
      </p:pic>
      <p:sp>
        <p:nvSpPr>
          <p:cNvPr id="6" name="Caixa de Texto 5"/>
          <p:cNvSpPr txBox="1"/>
          <p:nvPr/>
        </p:nvSpPr>
        <p:spPr>
          <a:xfrm>
            <a:off x="3176270" y="951230"/>
            <a:ext cx="3141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</a:rPr>
              <a:t>2. Cadastro de Veículos</a:t>
            </a:r>
            <a:endParaRPr lang="pt-B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Imagem 6" descr="Cadastro de Clien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" y="1318260"/>
            <a:ext cx="2791460" cy="2584450"/>
          </a:xfrm>
          <a:prstGeom prst="rect">
            <a:avLst/>
          </a:prstGeom>
        </p:spPr>
      </p:pic>
      <p:sp>
        <p:nvSpPr>
          <p:cNvPr id="8" name="Caixa de Texto 7"/>
          <p:cNvSpPr txBox="1"/>
          <p:nvPr/>
        </p:nvSpPr>
        <p:spPr>
          <a:xfrm>
            <a:off x="6096000" y="9505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</a:rPr>
              <a:t>3. Cadastro de Aluguéis</a:t>
            </a:r>
            <a:endParaRPr lang="pt-B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Imagem 8" descr="Cadastro de Alugué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45" y="1330960"/>
            <a:ext cx="2733675" cy="2563495"/>
          </a:xfrm>
          <a:prstGeom prst="rect">
            <a:avLst/>
          </a:prstGeom>
        </p:spPr>
      </p:pic>
      <p:sp>
        <p:nvSpPr>
          <p:cNvPr id="10" name="Caixa de Texto 9"/>
          <p:cNvSpPr txBox="1"/>
          <p:nvPr/>
        </p:nvSpPr>
        <p:spPr>
          <a:xfrm>
            <a:off x="226695" y="4189095"/>
            <a:ext cx="8522970" cy="655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As telas de cadastro e consulta permitem registrar, visualizar, alterar e excluir informa</a:t>
            </a:r>
            <a:r>
              <a:rPr lang="" altLang="en-US" sz="1600">
                <a:solidFill>
                  <a:schemeClr val="accent1">
                    <a:lumMod val="50000"/>
                  </a:schemeClr>
                </a:solidFill>
              </a:rPr>
              <a:t>çõ</a:t>
            </a:r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es de clientes, ve</a:t>
            </a:r>
            <a:r>
              <a:rPr lang="en-US" altLang="en-US" sz="1600">
                <a:solidFill>
                  <a:schemeClr val="accent1">
                    <a:lumMod val="50000"/>
                  </a:schemeClr>
                </a:solidFill>
              </a:rPr>
              <a:t>í</a:t>
            </a:r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culos e alugu</a:t>
            </a:r>
            <a:r>
              <a:rPr lang="en-US" altLang="en-US" sz="1600">
                <a:solidFill>
                  <a:schemeClr val="accent1">
                    <a:lumMod val="50000"/>
                  </a:schemeClr>
                </a:solidFill>
              </a:rPr>
              <a:t>é</a:t>
            </a:r>
            <a:r>
              <a:rPr lang="en-US" altLang="pt-BR" sz="1600">
                <a:solidFill>
                  <a:schemeClr val="accent1">
                    <a:lumMod val="50000"/>
                  </a:schemeClr>
                </a:solidFill>
              </a:rPr>
              <a:t>is de forma organizada.</a:t>
            </a:r>
            <a:endParaRPr lang="en-US" altLang="pt-BR" sz="160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  <p:txBody>
          <a:bodyPr/>
          <a:p>
            <a:endParaRPr lang="pt-BR" altLang="en-US"/>
          </a:p>
        </p:txBody>
      </p:sp>
      <p:sp>
        <p:nvSpPr>
          <p:cNvPr id="3" name="Caixa de Texto 2"/>
          <p:cNvSpPr txBox="1"/>
          <p:nvPr/>
        </p:nvSpPr>
        <p:spPr>
          <a:xfrm>
            <a:off x="438150" y="30480"/>
            <a:ext cx="618807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360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TELAS DE RELATÓRIOS</a:t>
            </a:r>
            <a:endParaRPr lang="pt-BR" altLang="en-US" sz="360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96215" y="718185"/>
            <a:ext cx="3394710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</a:rPr>
              <a:t>1. Tela e Relatório de Faturamento</a:t>
            </a:r>
            <a:endParaRPr lang="pt-B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Imagem 4" descr="Tela de Faturament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1071880"/>
            <a:ext cx="2727325" cy="1884045"/>
          </a:xfrm>
          <a:prstGeom prst="rect">
            <a:avLst/>
          </a:prstGeom>
        </p:spPr>
      </p:pic>
      <p:pic>
        <p:nvPicPr>
          <p:cNvPr id="6" name="Imagem 5" descr="Relatório de Faturamen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" y="2983230"/>
            <a:ext cx="2723515" cy="1663700"/>
          </a:xfrm>
          <a:prstGeom prst="rect">
            <a:avLst/>
          </a:prstGeom>
        </p:spPr>
      </p:pic>
      <p:sp>
        <p:nvSpPr>
          <p:cNvPr id="7" name="Caixa de Texto 6"/>
          <p:cNvSpPr txBox="1"/>
          <p:nvPr/>
        </p:nvSpPr>
        <p:spPr>
          <a:xfrm>
            <a:off x="4378325" y="717550"/>
            <a:ext cx="4374515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</a:rPr>
              <a:t>2. Relatório e Entrega de Veículos Atrasados </a:t>
            </a:r>
            <a:endParaRPr lang="pt-B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Imagem 7" descr="Relatório de Veículos Atrasad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071880"/>
            <a:ext cx="2814955" cy="1907540"/>
          </a:xfrm>
          <a:prstGeom prst="rect">
            <a:avLst/>
          </a:prstGeom>
        </p:spPr>
      </p:pic>
      <p:pic>
        <p:nvPicPr>
          <p:cNvPr id="9" name="Imagem 8" descr="Relatório para Entregar Veículos Atrasad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040" y="3077845"/>
            <a:ext cx="2825115" cy="1560195"/>
          </a:xfrm>
          <a:prstGeom prst="rect">
            <a:avLst/>
          </a:prstGeom>
        </p:spPr>
      </p:pic>
      <p:sp>
        <p:nvSpPr>
          <p:cNvPr id="10" name="Caixa de Texto 9"/>
          <p:cNvSpPr txBox="1"/>
          <p:nvPr/>
        </p:nvSpPr>
        <p:spPr>
          <a:xfrm>
            <a:off x="196850" y="4673600"/>
            <a:ext cx="896620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pt-BR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As telas de relat</a:t>
            </a:r>
            <a:r>
              <a:rPr lang="en-US" altLang="en-US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ó</a:t>
            </a:r>
            <a:r>
              <a:rPr lang="en-US" altLang="pt-BR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rios auxiliam na gest</a:t>
            </a:r>
            <a:r>
              <a:rPr lang="en-US" altLang="en-US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ã</a:t>
            </a:r>
            <a:r>
              <a:rPr lang="en-US" altLang="pt-BR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o da locadora, mostrando o faturamento por per</a:t>
            </a:r>
            <a:r>
              <a:rPr lang="en-US" altLang="en-US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í</a:t>
            </a:r>
            <a:r>
              <a:rPr lang="en-US" altLang="pt-BR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odo e os ve</a:t>
            </a:r>
            <a:r>
              <a:rPr lang="en-US" altLang="en-US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í</a:t>
            </a:r>
            <a:r>
              <a:rPr lang="en-US" altLang="pt-BR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culos com devolu</a:t>
            </a:r>
            <a:r>
              <a:rPr lang="" altLang="en-US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ç</a:t>
            </a:r>
            <a:r>
              <a:rPr lang="en-US" altLang="en-US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ã</a:t>
            </a:r>
            <a:r>
              <a:rPr lang="en-US" altLang="pt-BR" sz="1400">
                <a:solidFill>
                  <a:schemeClr val="accent1">
                    <a:lumMod val="50000"/>
                  </a:schemeClr>
                </a:solidFill>
                <a:latin typeface="Calibri Light" panose="020F0302020204030204" charset="0"/>
                <a:cs typeface="Calibri Light" panose="020F0302020204030204" charset="0"/>
              </a:rPr>
              <a:t>o atrasada.</a:t>
            </a:r>
            <a:endParaRPr lang="en-US" altLang="pt-BR" sz="1400">
              <a:solidFill>
                <a:schemeClr val="accent1">
                  <a:lumMod val="50000"/>
                </a:schemeClr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191135" y="182880"/>
            <a:ext cx="872426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BANCO DE DADOS</a:t>
            </a:r>
            <a:r>
              <a:rPr lang="pt-BR" alt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 - VISÃO GERAL</a:t>
            </a:r>
            <a:endParaRPr lang="pt-BR" altLang="en-US" sz="3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306324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ALUGUEL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474720"/>
            <a:ext cx="3840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0" name="Imagem 19" descr="Tabel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819150"/>
            <a:ext cx="8625840" cy="3408045"/>
          </a:xfrm>
          <a:prstGeom prst="rect">
            <a:avLst/>
          </a:prstGeom>
        </p:spPr>
      </p:pic>
      <p:sp>
        <p:nvSpPr>
          <p:cNvPr id="21" name="Caixa de Texto 20"/>
          <p:cNvSpPr txBox="1"/>
          <p:nvPr/>
        </p:nvSpPr>
        <p:spPr>
          <a:xfrm>
            <a:off x="190500" y="4314825"/>
            <a:ext cx="8724900" cy="612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pt-BR">
                <a:solidFill>
                  <a:schemeClr val="accent1">
                    <a:lumMod val="50000"/>
                  </a:schemeClr>
                </a:solidFill>
              </a:rPr>
              <a:t>O banco de dados foi criado no MySQL e armazena as informa</a:t>
            </a:r>
            <a:r>
              <a:rPr lang="" altLang="en-US">
                <a:solidFill>
                  <a:schemeClr val="accent1">
                    <a:lumMod val="50000"/>
                  </a:schemeClr>
                </a:solidFill>
              </a:rPr>
              <a:t>çõ</a:t>
            </a:r>
            <a:r>
              <a:rPr lang="en-US" altLang="pt-BR">
                <a:solidFill>
                  <a:schemeClr val="accent1">
                    <a:lumMod val="50000"/>
                  </a:schemeClr>
                </a:solidFill>
              </a:rPr>
              <a:t>es principais do sistema, como usu</a:t>
            </a:r>
            <a:r>
              <a:rPr lang="en-US" altLang="en-US">
                <a:solidFill>
                  <a:schemeClr val="accent1">
                    <a:lumMod val="50000"/>
                  </a:schemeClr>
                </a:solidFill>
              </a:rPr>
              <a:t>á</a:t>
            </a:r>
            <a:r>
              <a:rPr lang="en-US" altLang="pt-BR">
                <a:solidFill>
                  <a:schemeClr val="accent1">
                    <a:lumMod val="50000"/>
                  </a:schemeClr>
                </a:solidFill>
              </a:rPr>
              <a:t>rios, clientes, ve</a:t>
            </a:r>
            <a:r>
              <a:rPr lang="en-US" altLang="en-US">
                <a:solidFill>
                  <a:schemeClr val="accent1">
                    <a:lumMod val="50000"/>
                  </a:schemeClr>
                </a:solidFill>
              </a:rPr>
              <a:t>í</a:t>
            </a:r>
            <a:r>
              <a:rPr lang="en-US" altLang="pt-BR">
                <a:solidFill>
                  <a:schemeClr val="accent1">
                    <a:lumMod val="50000"/>
                  </a:schemeClr>
                </a:solidFill>
              </a:rPr>
              <a:t>culos e alugu</a:t>
            </a:r>
            <a:r>
              <a:rPr lang="en-US" altLang="en-US">
                <a:solidFill>
                  <a:schemeClr val="accent1">
                    <a:lumMod val="50000"/>
                  </a:schemeClr>
                </a:solidFill>
              </a:rPr>
              <a:t>é</a:t>
            </a:r>
            <a:r>
              <a:rPr lang="en-US" altLang="pt-BR">
                <a:solidFill>
                  <a:schemeClr val="accent1">
                    <a:lumMod val="50000"/>
                  </a:schemeClr>
                </a:solidFill>
              </a:rPr>
              <a:t>is.</a:t>
            </a:r>
            <a:endParaRPr lang="en-US" altLang="pt-BR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  <p:txBody>
          <a:bodyPr/>
          <a:p>
            <a:endParaRPr lang="pt-BR" altLang="en-US" sz="360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222885" y="62865"/>
            <a:ext cx="8665845" cy="605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360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ESTRUTURAS DAS TABELAS PT.1</a:t>
            </a:r>
            <a:endParaRPr lang="pt-BR" altLang="en-US" sz="360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endParaRPr lang="pt-BR" altLang="en-US"/>
          </a:p>
        </p:txBody>
      </p:sp>
      <p:pic>
        <p:nvPicPr>
          <p:cNvPr id="6" name="Imagem 5" descr="Clien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8030" y="1265555"/>
            <a:ext cx="4211320" cy="3061335"/>
          </a:xfrm>
          <a:prstGeom prst="rect">
            <a:avLst/>
          </a:prstGeom>
        </p:spPr>
      </p:pic>
      <p:sp>
        <p:nvSpPr>
          <p:cNvPr id="9" name="Caixa de Texto 8"/>
          <p:cNvSpPr txBox="1"/>
          <p:nvPr/>
        </p:nvSpPr>
        <p:spPr>
          <a:xfrm>
            <a:off x="120650" y="848360"/>
            <a:ext cx="3235960" cy="278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</a:rPr>
              <a:t> Tabela Usuário</a:t>
            </a:r>
            <a:endParaRPr lang="pt-B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Caixa de Texto 9"/>
          <p:cNvSpPr txBox="1"/>
          <p:nvPr/>
        </p:nvSpPr>
        <p:spPr>
          <a:xfrm>
            <a:off x="4488180" y="848360"/>
            <a:ext cx="3066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</a:rPr>
              <a:t>Tabela Cliente</a:t>
            </a:r>
            <a:endParaRPr lang="pt-B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" name="Imagem 11" descr="Usuar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" y="1243965"/>
            <a:ext cx="4159885" cy="3087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  <p:txBody>
          <a:bodyPr/>
          <a:p>
            <a:endParaRPr lang="pt-BR" altLang="en-US" sz="360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233680" y="81280"/>
            <a:ext cx="8667750" cy="569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pt-BR" altLang="en-US" sz="360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ESTRUTURAS DAS TABELAS PT.2</a:t>
            </a:r>
            <a:endParaRPr lang="pt-BR" altLang="en-US" sz="360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endParaRPr lang="pt-BR" altLang="en-US" sz="360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</p:txBody>
      </p:sp>
      <p:pic>
        <p:nvPicPr>
          <p:cNvPr id="5" name="Imagem 4" descr="Veícul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880" y="1217295"/>
            <a:ext cx="3907790" cy="2545080"/>
          </a:xfrm>
          <a:prstGeom prst="rect">
            <a:avLst/>
          </a:prstGeom>
        </p:spPr>
      </p:pic>
      <p:sp>
        <p:nvSpPr>
          <p:cNvPr id="6" name="Caixa de Texto 5"/>
          <p:cNvSpPr txBox="1"/>
          <p:nvPr/>
        </p:nvSpPr>
        <p:spPr>
          <a:xfrm>
            <a:off x="278765" y="4010660"/>
            <a:ext cx="8300085" cy="7734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Cada tabela representa uma parte importante do sistema. A tabela cliente guarda os dados dos locatários, a tabela veículo guarda os dados da frota, a tabela usuário controla o acesso ao sistema e a tabela aluguel registra os contratos.</a:t>
            </a:r>
            <a:endParaRPr lang="en-US" altLang="zh-C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157480" y="78994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  <a:sym typeface="+mn-ea"/>
              </a:rPr>
              <a:t> Tabela Aluguel</a:t>
            </a:r>
            <a:endParaRPr lang="pt-BR" altLang="en-US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4900930" y="789940"/>
            <a:ext cx="4679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>
                <a:solidFill>
                  <a:schemeClr val="accent1">
                    <a:lumMod val="50000"/>
                  </a:schemeClr>
                </a:solidFill>
                <a:sym typeface="+mn-ea"/>
              </a:rPr>
              <a:t>Tabela Veículo</a:t>
            </a:r>
            <a:endParaRPr lang="pt-BR" altLang="en-US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9" name="Imagem 8" descr="Alugu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" y="1158240"/>
            <a:ext cx="4319905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FUNCIONALIDADES PRINCIPAIS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OPERAÇÕES CRUD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114800" cy="292608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7" name="Text 5"/>
          <p:cNvSpPr/>
          <p:nvPr/>
        </p:nvSpPr>
        <p:spPr>
          <a:xfrm>
            <a:off x="640080" y="1737360"/>
            <a:ext cx="374904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📋 </a:t>
            </a:r>
            <a:r>
              <a:rPr lang="pt-BR" alt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CLIENTES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Cadastrar novos clientes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Consultar e pesquisar</a:t>
            </a:r>
            <a:endParaRPr lang="en-US" sz="1100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  <a:p>
            <a:pPr marL="0" lvl="0"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  <a:sym typeface="+mn-ea"/>
              </a:rPr>
              <a:t>•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  <a:sym typeface="+mn-ea"/>
              </a:rPr>
              <a:t>  </a:t>
            </a:r>
            <a:r>
              <a:rPr lang="pt-BR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  <a:sym typeface="+mn-ea"/>
              </a:rPr>
              <a:t>Alterar dados</a:t>
            </a:r>
            <a:endParaRPr lang="en-US" sz="1100" dirty="0">
              <a:solidFill>
                <a:srgbClr val="1F29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•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 Excluir registros</a:t>
            </a:r>
            <a:endParaRPr lang="en-US" sz="1100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  <a:p>
            <a:pPr indent="0">
              <a:buSzPct val="100000"/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🚙 </a:t>
            </a:r>
            <a:r>
              <a:rPr lang="pt-BR" alt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VEÍCULOS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Cadastrar nova frota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Consu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 e alterar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Gerenciar disponibilidade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📝</a:t>
            </a:r>
            <a:r>
              <a:rPr lang="pt-BR" alt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ALUGUÉIS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Registrar novos contratos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Marcar como entregue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Alterar e excluir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9" name="Text 7"/>
          <p:cNvSpPr/>
          <p:nvPr/>
        </p:nvSpPr>
        <p:spPr>
          <a:xfrm>
            <a:off x="4754880" y="11887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RELATÓRIOS GERENCIAIS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4114800" cy="292608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11" name="Text 9"/>
          <p:cNvSpPr/>
          <p:nvPr/>
        </p:nvSpPr>
        <p:spPr>
          <a:xfrm>
            <a:off x="4937760" y="1737360"/>
            <a:ext cx="374904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💰 </a:t>
            </a:r>
            <a:r>
              <a:rPr lang="pt-BR" alt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FATURAMENTO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Consulta por período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de receitas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Listagem de contratos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</a:t>
            </a:r>
            <a:r>
              <a:rPr lang="pt-BR" alt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4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VEÍCULOS ATRASADOS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Identificação automática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Cálculo de dias em atraso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Destaque visual de pendências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REGRAS DE NEGÓCIO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3258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Controle de Disponibilidade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Sistema impede aluguel de veículo já locado e não devolvido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411480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325880"/>
            <a:ext cx="5943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13258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Validação de Cadastros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Cliente e veículo devem existir antes de registrar aluguel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11480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6517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Proteção de Dados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017520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Não permite excluir veículo que possui contrato ativo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514600"/>
            <a:ext cx="411480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6517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Cálculo de Atrasos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3017520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Sistema calcula automaticamente dias de atraso nas devoluções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11480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39776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Status em Tempo Real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343400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Indicador visual mostra se veículo está disponível ou alugado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840480"/>
            <a:ext cx="411480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9776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Integridade de Dados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4343400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Validação de campos obrigatórios e formatos corretos</a:t>
            </a:r>
            <a:endParaRPr lang="en-US" sz="1100" dirty="0"/>
          </a:p>
        </p:txBody>
      </p:sp>
      <p:pic>
        <p:nvPicPr>
          <p:cNvPr id="28" name="Imagem 27" descr="configuracao-do-sistem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" y="1347470"/>
            <a:ext cx="688340" cy="750570"/>
          </a:xfrm>
          <a:prstGeom prst="rect">
            <a:avLst/>
          </a:prstGeom>
        </p:spPr>
      </p:pic>
      <p:pic>
        <p:nvPicPr>
          <p:cNvPr id="29" name="Imagem 28" descr="protecao-de-dad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0" y="2713355"/>
            <a:ext cx="654050" cy="654050"/>
          </a:xfrm>
          <a:prstGeom prst="rect">
            <a:avLst/>
          </a:prstGeom>
        </p:spPr>
      </p:pic>
      <p:pic>
        <p:nvPicPr>
          <p:cNvPr id="30" name="Imagem 29" descr="rastreamento-de-remess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" y="4003040"/>
            <a:ext cx="640080" cy="706120"/>
          </a:xfrm>
          <a:prstGeom prst="rect">
            <a:avLst/>
          </a:prstGeom>
        </p:spPr>
      </p:pic>
      <p:pic>
        <p:nvPicPr>
          <p:cNvPr id="31" name="Imagem 30" descr="sistema-de-contabilida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665" y="2713355"/>
            <a:ext cx="602615" cy="699770"/>
          </a:xfrm>
          <a:prstGeom prst="rect">
            <a:avLst/>
          </a:prstGeom>
        </p:spPr>
      </p:pic>
      <p:pic>
        <p:nvPicPr>
          <p:cNvPr id="32" name="Imagem 31" descr="integrador-de-dados-orac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055" y="4051935"/>
            <a:ext cx="657225" cy="657225"/>
          </a:xfrm>
          <a:prstGeom prst="rect">
            <a:avLst/>
          </a:prstGeom>
        </p:spPr>
      </p:pic>
      <p:pic>
        <p:nvPicPr>
          <p:cNvPr id="33" name="Imagem 32" descr="validaca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9050" y="1406525"/>
            <a:ext cx="570230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DESAFIOS E SOLUÇÕES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8686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6" name="Text 4"/>
          <p:cNvSpPr/>
          <p:nvPr/>
        </p:nvSpPr>
        <p:spPr>
          <a:xfrm>
            <a:off x="731520" y="1261872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DESAFIO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7772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Sincronizar status do veículo em tempo real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9144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731520" y="1755648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SOLUÇÃO: Consulta ao banco antes de cada operação de aluguel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86868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1" name="Shape 9"/>
          <p:cNvSpPr/>
          <p:nvPr/>
        </p:nvSpPr>
        <p:spPr>
          <a:xfrm>
            <a:off x="457200" y="2148840"/>
            <a:ext cx="91440" cy="8686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2" name="Text 10"/>
          <p:cNvSpPr/>
          <p:nvPr/>
        </p:nvSpPr>
        <p:spPr>
          <a:xfrm>
            <a:off x="731520" y="2221992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DESAFIO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50592"/>
            <a:ext cx="7772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Evitar duplicidade de aluguéis para o mesmo veículo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9144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731520" y="2715768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SOLUÇÃO: Validação com flag 'entregue' na tabela aluguel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86868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7" name="Shape 15"/>
          <p:cNvSpPr/>
          <p:nvPr/>
        </p:nvSpPr>
        <p:spPr>
          <a:xfrm>
            <a:off x="457200" y="3108960"/>
            <a:ext cx="91440" cy="8686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8" name="Text 16"/>
          <p:cNvSpPr/>
          <p:nvPr/>
        </p:nvSpPr>
        <p:spPr>
          <a:xfrm>
            <a:off x="731520" y="3182112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DESAFIO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410712"/>
            <a:ext cx="7772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Interface MDI com múltiplas janelas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9144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731520" y="3675888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SOLUÇÃO: JDesktopPane com JInternalFrames gerenciadas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23" name="Shape 21"/>
          <p:cNvSpPr/>
          <p:nvPr/>
        </p:nvSpPr>
        <p:spPr>
          <a:xfrm>
            <a:off x="457200" y="4069080"/>
            <a:ext cx="91440" cy="8686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4" name="Text 22"/>
          <p:cNvSpPr/>
          <p:nvPr/>
        </p:nvSpPr>
        <p:spPr>
          <a:xfrm>
            <a:off x="731520" y="4142232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DESAFIO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370832"/>
            <a:ext cx="7772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Cálculo de dias de atraso automatizado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9144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7" name="Text 25"/>
          <p:cNvSpPr/>
          <p:nvPr/>
        </p:nvSpPr>
        <p:spPr>
          <a:xfrm>
            <a:off x="731520" y="4636008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✓ SOLUÇÃO: Função SQL com DATE_DIFF entre data atual e data entrega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OBJETIVOS ALCANÇADOS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949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Sistema </a:t>
            </a:r>
            <a:r>
              <a:rPr lang="pt-BR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desenvolvido com as principais funcionalidades solicitadas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Interface amigável em arquitetura MDI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pt-BR" alt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</a:t>
            </a: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egras de negócio </a:t>
            </a:r>
            <a:r>
              <a:rPr lang="pt-BR" alt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aplicadas no controle de aluguéis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Código organizado </a:t>
            </a:r>
            <a:r>
              <a:rPr lang="pt-BR" alt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 pacotes: view,model,dao e util</a:t>
            </a:r>
            <a:endParaRPr lang="pt-BR" altLang="en-US" sz="1400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3566160" cy="164592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8" name="Text 6"/>
          <p:cNvSpPr/>
          <p:nvPr/>
        </p:nvSpPr>
        <p:spPr>
          <a:xfrm>
            <a:off x="1097280" y="320040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📚</a:t>
            </a:r>
            <a:r>
              <a:rPr lang="pt-BR" alt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APRENDIZADOS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3200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>
              <a:buSzPct val="100000"/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</a:t>
            </a: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 Desenvolvimento Java com Swing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• Integração com MySQL via JDBC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• Padrões de projeto (DAO, MVC)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• Trabalho em equipe</a:t>
            </a:r>
            <a:endParaRPr lang="en-US" sz="1400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3017520"/>
            <a:ext cx="3566160" cy="1645920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1" name="Text 9"/>
          <p:cNvSpPr/>
          <p:nvPr/>
        </p:nvSpPr>
        <p:spPr>
          <a:xfrm>
            <a:off x="4846320" y="320040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🚀 </a:t>
            </a:r>
            <a:r>
              <a:rPr lang="pt-BR" alt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60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MELHORIAS FUTURAS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3566160"/>
            <a:ext cx="3200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>
              <a:buSzPct val="100000"/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</a:t>
            </a: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Sistema web responsivo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App mobile para clientes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Integração com pagamentos</a:t>
            </a:r>
            <a:endParaRPr lang="en-US" sz="1400" dirty="0"/>
          </a:p>
          <a:p>
            <a:pPr indent="0">
              <a:buSzPct val="100000"/>
              <a:buNone/>
            </a:pPr>
            <a:r>
              <a:rPr lang="en-US" sz="14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Dashboard com gráficos</a:t>
            </a:r>
            <a:endParaRPr lang="en-US" sz="1400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OBRIGADO!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DBEAF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Sistema de Aluguel de Veículos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Equipe 2: </a:t>
            </a: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Gabriel </a:t>
            </a:r>
            <a:r>
              <a:rPr lang="pt-BR" alt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Duran 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&amp;</a:t>
            </a:r>
            <a:r>
              <a:rPr lang="pt-BR" alt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Luis Henrique</a:t>
            </a:r>
            <a:endParaRPr lang="pt-BR" altLang="en-US" sz="18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altLang="en-US" sz="2400" b="1" dirty="0">
                <a:solidFill>
                  <a:srgbClr val="60A5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DÚVIDAS</a:t>
            </a:r>
            <a:r>
              <a:rPr lang="en-US" sz="2400" b="1" dirty="0">
                <a:solidFill>
                  <a:srgbClr val="60A5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4806</Words>
  <Application>WPS Presentation</Application>
  <PresentationFormat>On-screen Show (16:9)</PresentationFormat>
  <Paragraphs>272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SimSun</vt:lpstr>
      <vt:lpstr>Wingdings</vt:lpstr>
      <vt:lpstr>Arial</vt:lpstr>
      <vt:lpstr>Arial</vt:lpstr>
      <vt:lpstr>Arial Black</vt:lpstr>
      <vt:lpstr>Arial Black</vt:lpstr>
      <vt:lpstr>Arial Black</vt:lpstr>
      <vt:lpstr>Consolas</vt:lpstr>
      <vt:lpstr>Consolas</vt:lpstr>
      <vt:lpstr>Consolas</vt:lpstr>
      <vt:lpstr>Calibri</vt:lpstr>
      <vt:lpstr>Microsoft YaHei</vt:lpstr>
      <vt:lpstr>Arial Unicode MS</vt:lpstr>
      <vt:lpstr>Agency FB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Aluguel de Veículos</dc:title>
  <dc:creator>Equipe 2 - Gabriel &amp; Luiz</dc:creator>
  <dc:subject>PptxGenJS Presentation</dc:subject>
  <cp:lastModifiedBy>Gabriel Duran</cp:lastModifiedBy>
  <cp:revision>8</cp:revision>
  <dcterms:created xsi:type="dcterms:W3CDTF">2026-05-21T20:58:00Z</dcterms:created>
  <dcterms:modified xsi:type="dcterms:W3CDTF">2026-06-03T00:35:38Z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1046-12.1.0.26880</vt:lpwstr>
  </property>
  <property fmtid="{D5CDD505-2E9C-101B-9397-08002B2CF9AE}" pid="3" name="ICV">
    <vt:lpwstr>976372BED90F4C009F032F51B0962B31_13</vt:lpwstr>
  </property>
</Properties>
</file>